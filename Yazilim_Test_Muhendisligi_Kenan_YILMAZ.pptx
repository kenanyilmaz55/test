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10" autoAdjust="0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47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8309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1600" y="0"/>
            <a:ext cx="914400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091624"/>
          </a:solidFill>
          <a:ln w="12700">
            <a:solidFill>
              <a:srgbClr val="0916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731520"/>
            <a:ext cx="2743200" cy="2743200"/>
          </a:xfrm>
          <a:prstGeom prst="ellipse">
            <a:avLst/>
          </a:prstGeom>
          <a:solidFill>
            <a:srgbClr val="00C2FF">
              <a:alpha val="12000"/>
            </a:srgbClr>
          </a:solidFill>
          <a:ln w="12700">
            <a:solidFill>
              <a:srgbClr val="00C2FF">
                <a:alpha val="2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7B61FF">
              <a:alpha val="12000"/>
            </a:srgbClr>
          </a:solidFill>
          <a:ln w="12700">
            <a:solidFill>
              <a:srgbClr val="7B61FF">
                <a:alpha val="2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91440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Mühendisliği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3200400" cy="36576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05180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C2FF"/>
                </a:solidFill>
              </a:rPr>
              <a:t>Hazırlayan: Kenan Yılmaz</a:t>
            </a:r>
            <a:r>
              <a:rPr lang="tr-TR" sz="1200" b="1" dirty="0">
                <a:solidFill>
                  <a:srgbClr val="00C2FF"/>
                </a:solidFill>
              </a:rPr>
              <a:t>  22360859322</a:t>
            </a:r>
          </a:p>
          <a:p>
            <a:pPr marL="0" indent="0" algn="l">
              <a:buNone/>
            </a:pPr>
            <a:endParaRPr lang="tr-TR" sz="1200" b="1" dirty="0">
              <a:solidFill>
                <a:srgbClr val="00C2FF"/>
              </a:solidFill>
            </a:endParaRPr>
          </a:p>
          <a:p>
            <a:pPr marL="0" indent="0" algn="l">
              <a:buNone/>
            </a:pPr>
            <a:r>
              <a:rPr lang="tr-TR" sz="1200" b="1" dirty="0">
                <a:solidFill>
                  <a:srgbClr val="00C2FF"/>
                </a:solidFill>
              </a:rPr>
              <a:t>Bursa Teknik Üniversitesi Bilgisayar Mühendisliği Öğrencisi</a:t>
            </a:r>
          </a:p>
          <a:p>
            <a:pPr marL="0" indent="0" algn="l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 Mühendisliği </a:t>
            </a:r>
            <a:r>
              <a:rPr lang="en-US" sz="28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Nedir?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651760" cy="3474720"/>
          </a:xfrm>
          <a:prstGeom prst="rect">
            <a:avLst/>
          </a:prstGeom>
          <a:solidFill>
            <a:srgbClr val="162840"/>
          </a:solidFill>
          <a:ln w="12700">
            <a:solidFill>
              <a:srgbClr val="00C2FF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51560"/>
            <a:ext cx="2651760" cy="54864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280160"/>
            <a:ext cx="1005840" cy="1005840"/>
          </a:xfrm>
          <a:prstGeom prst="ellipse">
            <a:avLst/>
          </a:prstGeom>
          <a:solidFill>
            <a:srgbClr val="00C2FF">
              <a:alpha val="18000"/>
            </a:srgbClr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✔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2423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2FF"/>
                </a:solidFill>
              </a:rPr>
              <a:t>Doğrulama &amp; Geçerleme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9718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0E8FF"/>
                </a:solidFill>
              </a:rPr>
              <a:t>Bir yazılımın beklenen gereksinimleri karşılayıp karşılamadığını Verification ve Validation süreçleriyle kanıtlar.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0" y="1051560"/>
            <a:ext cx="2651760" cy="3474720"/>
          </a:xfrm>
          <a:prstGeom prst="rect">
            <a:avLst/>
          </a:prstGeom>
          <a:solidFill>
            <a:srgbClr val="162840"/>
          </a:solidFill>
          <a:ln w="12700">
            <a:solidFill>
              <a:srgbClr val="7B61FF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51560"/>
            <a:ext cx="2651760" cy="54864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23360" y="1280160"/>
            <a:ext cx="1005840" cy="1005840"/>
          </a:xfrm>
          <a:prstGeom prst="ellipse">
            <a:avLst/>
          </a:prstGeom>
          <a:solidFill>
            <a:srgbClr val="7B61FF">
              <a:alpha val="18000"/>
            </a:srgbClr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337560" y="2423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B61FF"/>
                </a:solidFill>
              </a:rPr>
              <a:t>Hata Önleme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29718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0E8FF"/>
                </a:solidFill>
              </a:rPr>
              <a:t>Temel amacı sadece kod 'çalışıyor mu' diye bakmak değil, hataları (bug) kullanıcıya ulaşmadan bulmak ve önlemektir.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35040" y="1051560"/>
            <a:ext cx="2651760" cy="3474720"/>
          </a:xfrm>
          <a:prstGeom prst="rect">
            <a:avLst/>
          </a:prstGeom>
          <a:solidFill>
            <a:srgbClr val="162840"/>
          </a:solidFill>
          <a:ln w="12700">
            <a:solidFill>
              <a:srgbClr val="00E5A0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051560"/>
            <a:ext cx="2651760" cy="54864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58000" y="1280160"/>
            <a:ext cx="1005840" cy="1005840"/>
          </a:xfrm>
          <a:prstGeom prst="ellipse">
            <a:avLst/>
          </a:prstGeom>
          <a:solidFill>
            <a:srgbClr val="00E5A0">
              <a:alpha val="18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⭐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172200" y="24231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E5A0"/>
                </a:solidFill>
              </a:rPr>
              <a:t>Kalite </a:t>
            </a:r>
            <a:r>
              <a:rPr lang="en-US" sz="1200" b="1" dirty="0" err="1">
                <a:solidFill>
                  <a:srgbClr val="00E5A0"/>
                </a:solidFill>
              </a:rPr>
              <a:t>Güvencesi</a:t>
            </a:r>
            <a:r>
              <a:rPr lang="en-US" sz="1200" b="1" dirty="0">
                <a:solidFill>
                  <a:srgbClr val="00E5A0"/>
                </a:solidFill>
              </a:rPr>
              <a:t> 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72200" y="297180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tr-TR" sz="1050" dirty="0">
                <a:solidFill>
                  <a:srgbClr val="D0E8FF"/>
                </a:solidFill>
              </a:rPr>
              <a:t>Kalite güvencesi</a:t>
            </a:r>
            <a:r>
              <a:rPr lang="en-US" sz="1050" dirty="0">
                <a:solidFill>
                  <a:srgbClr val="D0E8FF"/>
                </a:solidFill>
              </a:rPr>
              <a:t> kültürünü yansıtarak geliştirme sürecinin kalitesini artırır, uzun vadede maliyetleri düşürür ve müşteri memnuniyetini sağlar.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 </a:t>
            </a:r>
            <a:r>
              <a:rPr lang="en-US" sz="28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Yöntemleri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651760" cy="365760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2651760" cy="457200"/>
          </a:xfrm>
          <a:prstGeom prst="rect">
            <a:avLst/>
          </a:prstGeom>
          <a:solidFill>
            <a:srgbClr val="00C2FF">
              <a:alpha val="20000"/>
            </a:srgbClr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05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00C2FF"/>
                </a:solidFill>
              </a:rPr>
              <a:t>BLACK BOX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C2FF"/>
                </a:solidFill>
              </a:rPr>
              <a:t>◼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Kara Kutu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2286000" cy="27432"/>
          </a:xfrm>
          <a:prstGeom prst="rect">
            <a:avLst/>
          </a:prstGeom>
          <a:solidFill>
            <a:srgbClr val="00C2FF">
              <a:alpha val="4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28600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Kodun iç yapısı bilinmez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Sadece girdi (input) ve çıktılara (output) odaklanılır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Yazılım son kullanıcı gözüyle test edilir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Fonksiyonel test yöntemi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005840"/>
            <a:ext cx="2651760" cy="365760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005840"/>
            <a:ext cx="2651760" cy="457200"/>
          </a:xfrm>
          <a:prstGeom prst="rect">
            <a:avLst/>
          </a:prstGeom>
          <a:solidFill>
            <a:srgbClr val="1E365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91840" y="1005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FFFFFF"/>
                </a:solidFill>
              </a:rPr>
              <a:t>WHITE BOX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918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FFFFF"/>
                </a:solidFill>
              </a:rPr>
              <a:t>◻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70332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Beyaz Kutu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383280" y="2148840"/>
            <a:ext cx="2286000" cy="27432"/>
          </a:xfrm>
          <a:prstGeom prst="rect">
            <a:avLst/>
          </a:prstGeom>
          <a:solidFill>
            <a:srgbClr val="8BA8C8">
              <a:alpha val="4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228600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Kodun iç yapısı, mimarisi ve algoritmaları bilinir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Döngülerin ve koşulların arka plandaki testi sağlanır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Yapısal test yöntemidir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Geliştirici odaklı test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005840"/>
            <a:ext cx="2651760" cy="365760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35040" y="1005840"/>
            <a:ext cx="2651760" cy="457200"/>
          </a:xfrm>
          <a:prstGeom prst="rect">
            <a:avLst/>
          </a:prstGeom>
          <a:solidFill>
            <a:srgbClr val="7B61FF">
              <a:alpha val="20000"/>
            </a:srgbClr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0058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7B61FF"/>
                </a:solidFill>
              </a:rPr>
              <a:t>GREY BOX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2648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B61FF"/>
                </a:solidFill>
              </a:rPr>
              <a:t>▪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5379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Gri Kutu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217920" y="2148840"/>
            <a:ext cx="2286000" cy="27432"/>
          </a:xfrm>
          <a:prstGeom prst="rect">
            <a:avLst/>
          </a:prstGeom>
          <a:solidFill>
            <a:srgbClr val="7B61FF">
              <a:alpha val="4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228600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Kısmi sistem bilgisiyle yapılan testler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Hem dış kullanıcı deneyimi hem de arka plan veritabanı harmanlanarak incelenir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Black + White Box kombinasyonu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Yazılım Test </a:t>
            </a:r>
            <a:r>
              <a:rPr lang="en-US" sz="28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Seviyeleri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7772400" cy="45720"/>
          </a:xfrm>
          <a:prstGeom prst="rect">
            <a:avLst/>
          </a:prstGeom>
          <a:solidFill>
            <a:srgbClr val="8BA8C8">
              <a:alpha val="5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404872"/>
            <a:ext cx="411480" cy="411480"/>
          </a:xfrm>
          <a:prstGeom prst="ellipse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404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37160" y="3200400"/>
            <a:ext cx="1417320" cy="1508760"/>
          </a:xfrm>
          <a:prstGeom prst="rect">
            <a:avLst/>
          </a:prstGeom>
          <a:solidFill>
            <a:srgbClr val="162840"/>
          </a:solidFill>
          <a:ln w="12700">
            <a:solidFill>
              <a:srgbClr val="00C2FF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82880" y="32918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C2FF"/>
                </a:solidFill>
              </a:rPr>
              <a:t>Birim Testi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" y="36576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Unit Testing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82880" y="3913632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8C8"/>
                </a:solidFill>
              </a:rPr>
              <a:t>Yazılımdaki en küçük kod parçalarının izole bir şekilde test edilmesidir. Temeli oluşturur.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926080" y="2404872"/>
            <a:ext cx="411480" cy="411480"/>
          </a:xfrm>
          <a:prstGeom prst="ellipse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2404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423160" y="914400"/>
            <a:ext cx="1417320" cy="1508760"/>
          </a:xfrm>
          <a:prstGeom prst="rect">
            <a:avLst/>
          </a:prstGeom>
          <a:solidFill>
            <a:srgbClr val="162840"/>
          </a:solidFill>
          <a:ln w="12700">
            <a:solidFill>
              <a:srgbClr val="7B61FF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468880" y="10058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7B61FF"/>
                </a:solidFill>
              </a:rPr>
              <a:t>Entegrasyon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468880" y="13716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Integration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468880" y="1627632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8C8"/>
                </a:solidFill>
              </a:rPr>
              <a:t>Farklı modüllerin bir araya geldiğinde doğru iletişim kurup kurmadığını denetler.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212080" y="2404872"/>
            <a:ext cx="411480" cy="411480"/>
          </a:xfrm>
          <a:prstGeom prst="ellipse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12080" y="2404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709160" y="3200400"/>
            <a:ext cx="1417320" cy="1508760"/>
          </a:xfrm>
          <a:prstGeom prst="rect">
            <a:avLst/>
          </a:prstGeom>
          <a:solidFill>
            <a:srgbClr val="162840"/>
          </a:solidFill>
          <a:ln w="12700">
            <a:solidFill>
              <a:srgbClr val="00E5A0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54880" y="32918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E5A0"/>
                </a:solidFill>
              </a:rPr>
              <a:t>Sistem Testi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36576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System Testing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3913632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8C8"/>
                </a:solidFill>
              </a:rPr>
              <a:t>Bütünleştirilmiş yazılımın tamamının baştan sona değerlendirilmesi aşamasıdır.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315200" y="2404872"/>
            <a:ext cx="411480" cy="411480"/>
          </a:xfrm>
          <a:prstGeom prst="ellipse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15200" y="2404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812280" y="914400"/>
            <a:ext cx="1417320" cy="1508760"/>
          </a:xfrm>
          <a:prstGeom prst="rect">
            <a:avLst/>
          </a:prstGeom>
          <a:solidFill>
            <a:srgbClr val="162840"/>
          </a:solidFill>
          <a:ln w="12700">
            <a:solidFill>
              <a:srgbClr val="FF7B54"/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858000" y="100584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B54"/>
                </a:solidFill>
              </a:rPr>
              <a:t>Kabul Testi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58000" y="137160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UAT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58000" y="1627632"/>
            <a:ext cx="1325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A8C8"/>
                </a:solidFill>
              </a:rPr>
              <a:t>Yazılımın canlı ortama çıkmadan önce son kullanıcılar tarafından onaylanması sürecidir.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Yaşam Döngüsü </a:t>
            </a:r>
            <a:r>
              <a:rPr lang="en-US" sz="28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(STLC)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A8C8"/>
                </a:solidFill>
              </a:rPr>
              <a:t>Test süreci tek bir adımdan ibaret değildir; sürekli bir döngüdür.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2651760" cy="1463040"/>
          </a:xfrm>
          <a:prstGeom prst="rect">
            <a:avLst/>
          </a:prstGeom>
          <a:solidFill>
            <a:srgbClr val="162840"/>
          </a:solidFill>
          <a:ln w="12700">
            <a:solidFill>
              <a:srgbClr val="00C2FF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63040"/>
            <a:ext cx="457200" cy="1463040"/>
          </a:xfrm>
          <a:prstGeom prst="rect">
            <a:avLst/>
          </a:prstGeom>
          <a:solidFill>
            <a:srgbClr val="00C2FF">
              <a:alpha val="3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63040"/>
            <a:ext cx="365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2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Gereksinim Analizi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48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Ne test edilecek?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651760" cy="1463040"/>
          </a:xfrm>
          <a:prstGeom prst="rect">
            <a:avLst/>
          </a:prstGeom>
          <a:solidFill>
            <a:srgbClr val="162840"/>
          </a:solidFill>
          <a:ln w="12700">
            <a:solidFill>
              <a:srgbClr val="7B61FF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463040"/>
            <a:ext cx="457200" cy="1463040"/>
          </a:xfrm>
          <a:prstGeom prst="rect">
            <a:avLst/>
          </a:prstGeom>
          <a:solidFill>
            <a:srgbClr val="7B61FF">
              <a:alpha val="3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463040"/>
            <a:ext cx="365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7B61FF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794760" y="1691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 Planlaması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794760" y="2148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Strateji, efor, bütçe ve araç seçimi.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1463040"/>
            <a:ext cx="2651760" cy="1463040"/>
          </a:xfrm>
          <a:prstGeom prst="rect">
            <a:avLst/>
          </a:prstGeom>
          <a:solidFill>
            <a:srgbClr val="162840"/>
          </a:solidFill>
          <a:ln w="12700">
            <a:solidFill>
              <a:srgbClr val="00E5A0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463040"/>
            <a:ext cx="457200" cy="1463040"/>
          </a:xfrm>
          <a:prstGeom prst="rect">
            <a:avLst/>
          </a:prstGeom>
          <a:solidFill>
            <a:srgbClr val="00E5A0">
              <a:alpha val="3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463040"/>
            <a:ext cx="365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E5A0"/>
                </a:solidFill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675120" y="16916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Test Tasarımı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75120" y="2148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Test senaryolarının (Test Case) yazılması.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154680"/>
            <a:ext cx="2651760" cy="1463040"/>
          </a:xfrm>
          <a:prstGeom prst="rect">
            <a:avLst/>
          </a:prstGeom>
          <a:solidFill>
            <a:srgbClr val="162840"/>
          </a:solidFill>
          <a:ln w="12700">
            <a:solidFill>
              <a:srgbClr val="FF7B54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154680"/>
            <a:ext cx="457200" cy="1463040"/>
          </a:xfrm>
          <a:prstGeom prst="rect">
            <a:avLst/>
          </a:prstGeom>
          <a:solidFill>
            <a:srgbClr val="FF7B54">
              <a:alpha val="3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154680"/>
            <a:ext cx="365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7B54"/>
                </a:solidFill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440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Ortam Kurulumu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840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Sunucu ve veritabanı hazırlığı.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46120" y="3154680"/>
            <a:ext cx="2651760" cy="1463040"/>
          </a:xfrm>
          <a:prstGeom prst="rect">
            <a:avLst/>
          </a:prstGeom>
          <a:solidFill>
            <a:srgbClr val="162840"/>
          </a:solidFill>
          <a:ln w="12700">
            <a:solidFill>
              <a:srgbClr val="FFD700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46120" y="3154680"/>
            <a:ext cx="457200" cy="1463040"/>
          </a:xfrm>
          <a:prstGeom prst="rect">
            <a:avLst/>
          </a:prstGeom>
          <a:solidFill>
            <a:srgbClr val="FFD700">
              <a:alpha val="3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91840" y="3154680"/>
            <a:ext cx="365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D700"/>
                </a:solidFill>
              </a:rPr>
              <a:t>5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379476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Yürütme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794760" y="3840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Senaryoların koşulması ve raporlanması.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26480" y="3154680"/>
            <a:ext cx="2651760" cy="1463040"/>
          </a:xfrm>
          <a:prstGeom prst="rect">
            <a:avLst/>
          </a:prstGeom>
          <a:solidFill>
            <a:srgbClr val="162840"/>
          </a:solidFill>
          <a:ln w="12700">
            <a:solidFill>
              <a:srgbClr val="FF69B4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3154680"/>
            <a:ext cx="457200" cy="1463040"/>
          </a:xfrm>
          <a:prstGeom prst="rect">
            <a:avLst/>
          </a:prstGeom>
          <a:solidFill>
            <a:srgbClr val="FF69B4">
              <a:alpha val="3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72200" y="3154680"/>
            <a:ext cx="365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69B4"/>
                </a:solidFill>
              </a:rPr>
              <a:t>6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667512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Kapanış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675120" y="3840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Raporlama ve süreç değerlendirmesi.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</a:t>
            </a:r>
            <a:r>
              <a:rPr lang="en-US" sz="28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Otomasyon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Testleri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453128" y="1051560"/>
            <a:ext cx="237744" cy="36576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70248" y="2377440"/>
            <a:ext cx="603504" cy="603504"/>
          </a:xfrm>
          <a:prstGeom prst="ellipse">
            <a:avLst/>
          </a:prstGeom>
          <a:solidFill>
            <a:srgbClr val="1A2E44"/>
          </a:solidFill>
          <a:ln w="12700">
            <a:solidFill>
              <a:srgbClr val="8BA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70248" y="23774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BA8C8"/>
                </a:solidFill>
              </a:rPr>
              <a:t>VS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4023360" cy="3657600"/>
          </a:xfrm>
          <a:prstGeom prst="rect">
            <a:avLst/>
          </a:prstGeom>
          <a:solidFill>
            <a:srgbClr val="162840"/>
          </a:solidFill>
          <a:ln w="12700">
            <a:solidFill>
              <a:srgbClr val="7B61FF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51560"/>
            <a:ext cx="4023360" cy="640080"/>
          </a:xfrm>
          <a:prstGeom prst="rect">
            <a:avLst/>
          </a:prstGeom>
          <a:solidFill>
            <a:srgbClr val="7B61FF">
              <a:alpha val="2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515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61FF"/>
                </a:solidFill>
              </a:rPr>
              <a:t>👆  MANUEL TEST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8288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0E8FF"/>
                </a:solidFill>
              </a:rPr>
              <a:t>İnsan müdahalesiyle, senaryoların elle adım adım uygulanmasıdır.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423160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UX testlerinde insan algısı zorunludur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Keşif (Exploratory) testleri için idealdir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İlk defa test edilen özelliklerde tercih edilir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Anlık karar gerektiren senaryolarda güçlüdür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4023360" cy="3657600"/>
          </a:xfrm>
          <a:prstGeom prst="rect">
            <a:avLst/>
          </a:prstGeom>
          <a:solidFill>
            <a:srgbClr val="162840"/>
          </a:solidFill>
          <a:ln w="12700">
            <a:solidFill>
              <a:srgbClr val="00C2FF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051560"/>
            <a:ext cx="4023360" cy="640080"/>
          </a:xfrm>
          <a:prstGeom prst="rect">
            <a:avLst/>
          </a:prstGeom>
          <a:solidFill>
            <a:srgbClr val="00C2FF">
              <a:alpha val="2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10515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FF"/>
                </a:solidFill>
              </a:rPr>
              <a:t>🤖  OTOMASYON TESTİ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18288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0E8FF"/>
                </a:solidFill>
              </a:rPr>
              <a:t>Tekrarlayan testlerin özel kodlar ve araçlarla otomasyona taşınmasıdır.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423160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Regresyon hatalarını anında tespit eder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CI/CD süreçlerinin belkemiğidir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Selenium, Cypress, Appium araçları kullanılır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8BA8C8"/>
                </a:solidFill>
              </a:rPr>
              <a:t>Zaman ve maliyet tasarrufu sağlar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E5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Zeka 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Test Mühendisliği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594360"/>
          </a:xfrm>
          <a:prstGeom prst="rect">
            <a:avLst/>
          </a:prstGeom>
          <a:solidFill>
            <a:srgbClr val="00E5A0">
              <a:alpha val="12000"/>
            </a:srgbClr>
          </a:solidFill>
          <a:ln w="12700">
            <a:solidFill>
              <a:srgbClr val="00E5A0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058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E5A0"/>
                </a:solidFill>
              </a:rPr>
              <a:t>🤖  Yapay zeka, test süreçlerindeki insan eforunu büyük ölçüde azaltıp, yazılımın test kapsamını (test coverage) genişletiyor.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4069080" cy="1371600"/>
          </a:xfrm>
          <a:prstGeom prst="rect">
            <a:avLst/>
          </a:prstGeom>
          <a:solidFill>
            <a:srgbClr val="162840"/>
          </a:solidFill>
          <a:ln w="12700">
            <a:solidFill>
              <a:srgbClr val="00C2FF">
                <a:alpha val="3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828800"/>
            <a:ext cx="54864" cy="1371600"/>
          </a:xfrm>
          <a:prstGeom prst="rect">
            <a:avLst/>
          </a:prstGeom>
          <a:solidFill>
            <a:srgbClr val="00C2FF"/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19385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2FF"/>
                </a:solidFill>
              </a:rPr>
              <a:t>📝  Test Senaryosu Üretimi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23317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Büyük dil modelleri (LLM), karmaşık gereksinim dokümanlarını analiz ederek saatler süren manuel test senaryosu yazımını otomatikleştiriyor.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828800"/>
            <a:ext cx="4069080" cy="1371600"/>
          </a:xfrm>
          <a:prstGeom prst="rect">
            <a:avLst/>
          </a:prstGeom>
          <a:solidFill>
            <a:srgbClr val="162840"/>
          </a:solidFill>
          <a:ln w="12700">
            <a:solidFill>
              <a:srgbClr val="7B61FF">
                <a:alpha val="3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828800"/>
            <a:ext cx="54864" cy="137160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73752" y="193852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61FF"/>
                </a:solidFill>
              </a:rPr>
              <a:t>🔮  Tahminleyici Analiz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73752" y="23317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Makine öğrenmesi, geçmiş kod hatalarına ve commit geçmişine bakarak gelecekte hangi modüllerde hata çıkma ihtimalinin yüksek olduğunu öngörüyor.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65760" y="3383280"/>
            <a:ext cx="4069080" cy="1371600"/>
          </a:xfrm>
          <a:prstGeom prst="rect">
            <a:avLst/>
          </a:prstGeom>
          <a:solidFill>
            <a:srgbClr val="162840"/>
          </a:solidFill>
          <a:ln w="12700">
            <a:solidFill>
              <a:srgbClr val="00E5A0">
                <a:alpha val="3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383280"/>
            <a:ext cx="54864" cy="1371600"/>
          </a:xfrm>
          <a:prstGeom prst="rect">
            <a:avLst/>
          </a:prstGeom>
          <a:solidFill>
            <a:srgbClr val="00E5A0"/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49300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E5A0"/>
                </a:solidFill>
              </a:rPr>
              <a:t>👁️  Görsel Test (CV)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" y="3886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Computer Vision modelleri UI'ı insan gözü gibi tarayıp piksel kaymalarını, renk hatalarını ve arayüz bozulmalarını koda bakmadan tespit eder.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09160" y="3383280"/>
            <a:ext cx="4069080" cy="1371600"/>
          </a:xfrm>
          <a:prstGeom prst="rect">
            <a:avLst/>
          </a:prstGeom>
          <a:solidFill>
            <a:srgbClr val="162840"/>
          </a:solidFill>
          <a:ln w="12700">
            <a:solidFill>
              <a:srgbClr val="FF7B54">
                <a:alpha val="3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3383280"/>
            <a:ext cx="54864" cy="1371600"/>
          </a:xfrm>
          <a:prstGeom prst="rect">
            <a:avLst/>
          </a:prstGeom>
          <a:solidFill>
            <a:srgbClr val="FF7B54"/>
          </a:solidFill>
          <a:ln w="12700">
            <a:solidFill>
              <a:srgbClr val="FF7B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73752" y="349300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7B54"/>
                </a:solidFill>
              </a:rPr>
              <a:t>🛠️  Self-Healing Testler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73752" y="3886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UI değişimlerinde test kodunun çökmesini engelleyip, arka planda dinamik olarak yeni elementi bulan yapay zeka algoritmalarıdır.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Gelişmiş </a:t>
            </a:r>
            <a:r>
              <a:rPr lang="en-US" sz="2800" b="1" dirty="0">
                <a:solidFill>
                  <a:srgbClr val="00C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Test 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Senaryoları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2651760" cy="3749040"/>
          </a:xfrm>
          <a:prstGeom prst="rect">
            <a:avLst/>
          </a:prstGeom>
          <a:solidFill>
            <a:srgbClr val="162840"/>
          </a:solidFill>
          <a:ln w="12700">
            <a:solidFill>
              <a:srgbClr val="00C2FF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05840"/>
            <a:ext cx="2651760" cy="1188720"/>
          </a:xfrm>
          <a:prstGeom prst="rect">
            <a:avLst/>
          </a:prstGeom>
          <a:solidFill>
            <a:srgbClr val="00C2FF">
              <a:alpha val="16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115568"/>
            <a:ext cx="640080" cy="640080"/>
          </a:xfrm>
          <a:prstGeom prst="ellipse">
            <a:avLst/>
          </a:prstGeom>
          <a:solidFill>
            <a:srgbClr val="00C2FF">
              <a:alpha val="40000"/>
            </a:srgbClr>
          </a:solidFill>
          <a:ln w="12700">
            <a:solidFill>
              <a:srgbClr val="00C2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11155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C2FF"/>
                </a:solidFill>
              </a:rPr>
              <a:t>Görsel Test (CV)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3317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Görüntü işleme modelleri (Computer Vision)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UI'ı insan gözü gibi tarayıp piksel kaymalarını tespit eder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Renk hatalarını ve arayüz bozulmalarını koda bakmadan bulur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2651760" cy="3749040"/>
          </a:xfrm>
          <a:prstGeom prst="rect">
            <a:avLst/>
          </a:prstGeom>
          <a:solidFill>
            <a:srgbClr val="162840"/>
          </a:solidFill>
          <a:ln w="12700">
            <a:solidFill>
              <a:srgbClr val="7B61FF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7B61FF">
              <a:alpha val="16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0" y="1115568"/>
            <a:ext cx="640080" cy="640080"/>
          </a:xfrm>
          <a:prstGeom prst="ellipse">
            <a:avLst/>
          </a:prstGeom>
          <a:solidFill>
            <a:srgbClr val="7B61FF">
              <a:alpha val="40000"/>
            </a:srgbClr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11155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291840" y="1828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B61FF"/>
                </a:solidFill>
              </a:rPr>
              <a:t>Doğal Dil İşleme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83280" y="23317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NLP teknolojisi kullanılır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Müşteri geri bildirimlerini ve destek biletlerini analiz eder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Yazılım hatalarının otomatik loglanması ve sınıflandırılması sağlanır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1005840"/>
            <a:ext cx="2651760" cy="3749040"/>
          </a:xfrm>
          <a:prstGeom prst="rect">
            <a:avLst/>
          </a:prstGeom>
          <a:solidFill>
            <a:srgbClr val="162840"/>
          </a:solidFill>
          <a:ln w="12700">
            <a:solidFill>
              <a:srgbClr val="00E5A0">
                <a:alpha val="40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005840"/>
            <a:ext cx="2651760" cy="1188720"/>
          </a:xfrm>
          <a:prstGeom prst="rect">
            <a:avLst/>
          </a:prstGeom>
          <a:solidFill>
            <a:srgbClr val="00E5A0">
              <a:alpha val="16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0" y="1115568"/>
            <a:ext cx="640080" cy="640080"/>
          </a:xfrm>
          <a:prstGeom prst="ellipse">
            <a:avLst/>
          </a:prstGeom>
          <a:solidFill>
            <a:srgbClr val="00E5A0">
              <a:alpha val="40000"/>
            </a:srgbClr>
          </a:solidFill>
          <a:ln w="12700">
            <a:solidFill>
              <a:srgbClr val="00E5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11155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✨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126480" y="1828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E5A0"/>
                </a:solidFill>
              </a:rPr>
              <a:t>Self-Healing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331720"/>
            <a:ext cx="2331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Kendi kendini onaran testler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UI değişimlerinde test kodunun çökmesini engeller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D0E8FF"/>
                </a:solidFill>
              </a:rPr>
              <a:t>Dinamik olarak yeni elementi bulan AI algoritmalarıdır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137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FF">
                    <a:alpha val="60000"/>
                  </a:srgbClr>
                </a:solidFill>
              </a:rPr>
              <a:t>09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Mühendisinin </a:t>
            </a:r>
            <a:r>
              <a:rPr lang="en-US" sz="2800" b="1" dirty="0">
                <a:solidFill>
                  <a:srgbClr val="7B6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Gelecekteki Rolü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822960"/>
          </a:xfrm>
          <a:prstGeom prst="rect">
            <a:avLst/>
          </a:prstGeom>
          <a:solidFill>
            <a:srgbClr val="7B61FF">
              <a:alpha val="12000"/>
            </a:srgbClr>
          </a:solidFill>
          <a:ln w="12700">
            <a:solidFill>
              <a:srgbClr val="7B61FF">
                <a:alpha val="4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54864" cy="822960"/>
          </a:xfrm>
          <a:prstGeom prst="rect">
            <a:avLst/>
          </a:prstGeom>
          <a:solidFill>
            <a:srgbClr val="7B61FF"/>
          </a:solidFill>
          <a:ln w="12700">
            <a:solidFill>
              <a:srgbClr val="7B61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B61FF"/>
                </a:solidFill>
              </a:rPr>
              <a:t>"Yapay zeka test mühendislerinin işini elinden almayacak; yapay zekayı kullanan mühendisler kullanmayanların yerini alacak."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2011680"/>
            <a:ext cx="4069080" cy="1325880"/>
          </a:xfrm>
          <a:prstGeom prst="rect">
            <a:avLst/>
          </a:prstGeom>
          <a:solidFill>
            <a:srgbClr val="162840"/>
          </a:solidFill>
          <a:ln w="12700">
            <a:solidFill>
              <a:srgbClr val="00C2FF">
                <a:alpha val="3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01168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🏗️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51560" y="212140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2FF"/>
                </a:solidFill>
              </a:rPr>
              <a:t>Test Mimarisini Kuran Tasarımcı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1560" y="25146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Manuel tıklamalardan ziyade, test mimarisini kuran tasarımcı mühendislere dönüşüm yaşanıyor.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011680"/>
            <a:ext cx="4069080" cy="1325880"/>
          </a:xfrm>
          <a:prstGeom prst="rect">
            <a:avLst/>
          </a:prstGeom>
          <a:solidFill>
            <a:srgbClr val="162840"/>
          </a:solidFill>
          <a:ln w="12700">
            <a:solidFill>
              <a:srgbClr val="00E5A0">
                <a:alpha val="3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00600" y="201168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94960" y="212140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E5A0"/>
                </a:solidFill>
              </a:rPr>
              <a:t>AI Araçlarını Eğitmek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94960" y="25146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Yapay zeka araçlarını doğru verilerle eğitmek ve karmaşık çıktılarını analiz etmek.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20440"/>
            <a:ext cx="4069080" cy="1325880"/>
          </a:xfrm>
          <a:prstGeom prst="rect">
            <a:avLst/>
          </a:prstGeom>
          <a:solidFill>
            <a:srgbClr val="162840"/>
          </a:solidFill>
          <a:ln w="12700">
            <a:solidFill>
              <a:srgbClr val="7B61FF">
                <a:alpha val="3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52044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🔬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51560" y="363016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B61FF"/>
                </a:solidFill>
              </a:rPr>
              <a:t>AI Kodunu Test Etmek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51560" y="40233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AI'ın ürettiği kodları test etmek: Prompt doğrulaması ve yapay zeka halüsinasyon testleri.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09160" y="3520440"/>
            <a:ext cx="4069080" cy="1325880"/>
          </a:xfrm>
          <a:prstGeom prst="rect">
            <a:avLst/>
          </a:prstGeom>
          <a:solidFill>
            <a:srgbClr val="162840"/>
          </a:solidFill>
          <a:ln w="12700">
            <a:solidFill>
              <a:srgbClr val="FF7B54">
                <a:alpha val="35000"/>
              </a:srgbClr>
            </a:solidFill>
            <a:prstDash val="solid"/>
          </a:ln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00600" y="3520440"/>
            <a:ext cx="640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394960" y="3630168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7B54"/>
                </a:solidFill>
              </a:rPr>
              <a:t>ML Destekli Güvenlik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394960" y="40233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8BA8C8"/>
                </a:solidFill>
              </a:rPr>
              <a:t>Siber güvenlik ve performans test süreçlerinin makine öğrenmesi algoritmalarıyla desteklenmesi.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00C2FF">
              <a:alpha val="8000"/>
            </a:srgbClr>
          </a:solidFill>
          <a:ln w="12700">
            <a:solidFill>
              <a:srgbClr val="00C2FF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2743200"/>
            <a:ext cx="2743200" cy="2743200"/>
          </a:xfrm>
          <a:prstGeom prst="ellipse">
            <a:avLst/>
          </a:prstGeom>
          <a:solidFill>
            <a:srgbClr val="7B61FF">
              <a:alpha val="8000"/>
            </a:srgbClr>
          </a:solidFill>
          <a:ln w="12700">
            <a:solidFill>
              <a:srgbClr val="7B61FF">
                <a:alpha val="1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801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Sorularınız?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2514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C2FF"/>
                </a:solidFill>
              </a:rPr>
              <a:t>Dinlediğiniz İçin Teşekkürler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3200400"/>
            <a:ext cx="2743200" cy="36576"/>
          </a:xfrm>
          <a:prstGeom prst="rect">
            <a:avLst/>
          </a:prstGeom>
          <a:solidFill>
            <a:srgbClr val="8BA8C8">
              <a:alpha val="40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BA8C8"/>
                </a:solidFill>
              </a:rPr>
              <a:t>Kenan Yılmaz  ·  Yazılım Test Mühendisliği Sunumu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686</Words>
  <Application>Microsoft Office PowerPoint</Application>
  <PresentationFormat>Ekran Gösterisi (16:9)</PresentationFormat>
  <Paragraphs>148</Paragraphs>
  <Slides>10</Slides>
  <Notes>10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Yazılım Test Mühendisliği</dc:title>
  <dc:subject>PptxGenJS Presentation</dc:subject>
  <dc:creator>Kenan Yılmaz</dc:creator>
  <cp:lastModifiedBy>Kenan YILMAZ</cp:lastModifiedBy>
  <cp:revision>4</cp:revision>
  <dcterms:created xsi:type="dcterms:W3CDTF">2026-06-05T09:52:43Z</dcterms:created>
  <dcterms:modified xsi:type="dcterms:W3CDTF">2026-06-11T20:22:06Z</dcterms:modified>
</cp:coreProperties>
</file>